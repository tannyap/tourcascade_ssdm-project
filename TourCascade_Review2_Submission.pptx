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C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AACDFF"/>
                </a:solidFill>
              </a:defRPr>
            </a:pPr>
            <a:r>
              <a:t>CSE3068 - SEQUENTIAL AND SPATIAL DATA MINING | DIGITAL ASSIGNMENT 2</a:t>
            </a:r>
          </a:p>
          <a:p>
            <a:pPr>
              <a:spcBef>
                <a:spcPts val="1400"/>
              </a:spcBef>
              <a:defRPr sz="3000" b="1">
                <a:solidFill>
                  <a:srgbClr val="FFFFFF"/>
                </a:solidFill>
              </a:defRPr>
            </a:pPr>
            <a:r>
              <a:t>TourCascade: Sequential Spatial Mining of Tourist Mobility Cascades for Predictive Luxury Flagship Placement</a:t>
            </a:r>
          </a:p>
          <a:p>
            <a:pPr>
              <a:spcBef>
                <a:spcPts val="1000"/>
              </a:spcBef>
              <a:defRPr sz="1600">
                <a:solidFill>
                  <a:srgbClr val="DCE6F5"/>
                </a:solidFill>
              </a:defRPr>
            </a:pPr>
            <a:r>
              <a:t>Implementation Review &amp; Empirical Validation Report</a:t>
            </a:r>
          </a:p>
          <a:p>
            <a:pPr>
              <a:spcBef>
                <a:spcPts val="3000"/>
              </a:spcBef>
              <a:defRPr sz="1200" b="1">
                <a:solidFill>
                  <a:srgbClr val="FFFFFF"/>
                </a:solidFill>
              </a:defRPr>
            </a:pPr>
            <a:r>
              <a:t>Student Name: Tannya Pasricha   |   Registration No: 23MIA1130   |   Dataset: TSMC2014 NYC Check-in Corpus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1. Research Motivation, Literature Gap &amp; Core Hypothesis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Industry &amp; Literature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The Domain Problem: </a:t>
            </a:r>
            <a:r>
              <a:rPr sz="1100">
                <a:solidFill>
                  <a:srgbClr val="323232"/>
                </a:solidFill>
              </a:rPr>
              <a:t>Luxury flagship placement requires capturing high-spending tourist flow with shopping intent, not residential or commuter density.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Flaw of Existing Systems: </a:t>
            </a:r>
            <a:r>
              <a:rPr sz="1100">
                <a:solidFill>
                  <a:srgbClr val="323232"/>
                </a:solidFill>
              </a:rPr>
              <a:t>Commercial GIS engines (CARTO, Placer.ai) rely on static, single-point-in-time check-in counts. They treat urban space as isolated, memoryless snapshots.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Academic Gap: </a:t>
            </a:r>
            <a:r>
              <a:rPr sz="1100">
                <a:solidFill>
                  <a:srgbClr val="323232"/>
                </a:solidFill>
              </a:rPr>
              <a:t>Prior academic studies on flagship placement (e.g., Venice San Marco studies) remain qualitative, lacking predictive algorithmic formulations.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Failure of Static Volume: </a:t>
            </a:r>
            <a:r>
              <a:rPr sz="1100">
                <a:solidFill>
                  <a:srgbClr val="323232"/>
                </a:solidFill>
              </a:rPr>
              <a:t>Static footfall creates false positives by over-weighting crowded transit stations and central plazas where visitors exhibit zero retail intent.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The TourCascade Hypothesis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7548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Sequential Cascades: </a:t>
            </a:r>
            <a:r>
              <a:rPr sz="1100">
                <a:solidFill>
                  <a:srgbClr val="323232"/>
                </a:solidFill>
              </a:rPr>
              <a:t>Tourists explore cities via structured temporal trajectories (e.g., Hotel -&gt; Cultural Landmark -&gt; Dining -&gt; Retail Hub).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The Downstream Inflow Law: </a:t>
            </a:r>
            <a:r>
              <a:rPr sz="1100">
                <a:solidFill>
                  <a:srgbClr val="323232"/>
                </a:solidFill>
              </a:rPr>
              <a:t>A zone's retail viability is determined by its sequential downstream inflow—acting as a destination sink that captures accumulated intent from upstream anchor nodes.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Novel Target Identification: </a:t>
            </a:r>
            <a:r>
              <a:rPr sz="1100">
                <a:solidFill>
                  <a:srgbClr val="323232"/>
                </a:solidFill>
              </a:rPr>
              <a:t>Static models penalize high-value enclaves that have moderate footfall but capture intense, conversion-ready trajectory flows. Our goal is uncovering these 'Hidden Hotspots'.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Interpretability Imperative: </a:t>
            </a:r>
            <a:r>
              <a:rPr sz="1100">
                <a:solidFill>
                  <a:srgbClr val="323232"/>
                </a:solidFill>
              </a:rPr>
              <a:t>Full explainability: Every recommended cell must provide a transparent audit trail of upstream feeder categories and confidence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2. System Architecture &amp; Trajectory Discretization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4688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A. Data Cleaning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Ingestion: </a:t>
            </a:r>
            <a:r>
              <a:rPr sz="1100">
                <a:solidFill>
                  <a:srgbClr val="323232"/>
                </a:solidFill>
              </a:rPr>
              <a:t>Dataset: TSMC2014 Foursquare NYC Check-ins (227,429 raw records).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Timestamp Standardization: </a:t>
            </a:r>
            <a:r>
              <a:rPr sz="1100">
                <a:solidFill>
                  <a:srgbClr val="323232"/>
                </a:solidFill>
              </a:rPr>
              <a:t>Parsed non-standard Foursquare timestamps ('%a %b %d %H:%M:%S +0000 %Y') into UTC datetime.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Geographical Bounding: </a:t>
            </a:r>
            <a:r>
              <a:rPr sz="1100">
                <a:solidFill>
                  <a:srgbClr val="323232"/>
                </a:solidFill>
              </a:rPr>
              <a:t>Filtered within strict NYC bounds: Lat [40.5774, 40.9176], Lng [-74.15, -73.7004].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Noise Elimination: </a:t>
            </a:r>
            <a:r>
              <a:rPr sz="1100">
                <a:solidFill>
                  <a:srgbClr val="323232"/>
                </a:solidFill>
              </a:rPr>
              <a:t>Deduplicated identical user check-ins occurring within the same timestamp.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554480"/>
            <a:ext cx="24688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B. Spatial Discretization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10312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Hexagonal Indexing: </a:t>
            </a:r>
            <a:r>
              <a:rPr sz="1100">
                <a:solidFill>
                  <a:srgbClr val="323232"/>
                </a:solidFill>
              </a:rPr>
              <a:t>Projected geographic points into Uber H3 Discrete Global Hexagonal Grid.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Resolution Rationale: </a:t>
            </a:r>
            <a:r>
              <a:rPr sz="1100">
                <a:solidFill>
                  <a:srgbClr val="323232"/>
                </a:solidFill>
              </a:rPr>
              <a:t>Selected Resolution 8 (mean area: 0.737 sq km, edge length: ~461m).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Geometric Superiority: </a:t>
            </a:r>
            <a:r>
              <a:rPr sz="1100">
                <a:solidFill>
                  <a:srgbClr val="323232"/>
                </a:solidFill>
              </a:rPr>
              <a:t>Hexagons provide equidistant neighboring cells, avoiding the directional distortion inherent in square grids.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Spatial Uniformity: </a:t>
            </a:r>
            <a:r>
              <a:rPr sz="1100">
                <a:solidFill>
                  <a:srgbClr val="323232"/>
                </a:solidFill>
              </a:rPr>
              <a:t>Mapped all heterogeneous venues into standardized cell indices (zone_id).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554480"/>
            <a:ext cx="24688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C. Session Segmentation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User Trajectories: </a:t>
            </a:r>
            <a:r>
              <a:rPr sz="1100">
                <a:solidFill>
                  <a:srgbClr val="323232"/>
                </a:solidFill>
              </a:rPr>
              <a:t>Grouped trajectories by user_id and sorted chronologically.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Session Formulation: </a:t>
            </a:r>
            <a:r>
              <a:rPr sz="1100">
                <a:solidFill>
                  <a:srgbClr val="323232"/>
                </a:solidFill>
              </a:rPr>
              <a:t>Applied idle threshold Delta_t &lt;= 12 hours between consecutive check-ins.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Temporal Boundary: </a:t>
            </a:r>
            <a:r>
              <a:rPr sz="1100">
                <a:solidFill>
                  <a:srgbClr val="323232"/>
                </a:solidFill>
              </a:rPr>
              <a:t>If Delta_t &gt; 12h, a new session_id is initialized, isolating distinct exploratory trips.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Spatial Compression: </a:t>
            </a:r>
            <a:r>
              <a:rPr sz="1100">
                <a:solidFill>
                  <a:srgbClr val="323232"/>
                </a:solidFill>
              </a:rPr>
              <a:t>Compressed consecutive stays within the same H3 hex to isolate meaningful spatial transitions.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554480"/>
            <a:ext cx="24688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691640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D. Cascade Extraction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103120"/>
            <a:ext cx="20116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POI Classification: </a:t>
            </a:r>
            <a:r>
              <a:rPr sz="1100">
                <a:solidFill>
                  <a:srgbClr val="323232"/>
                </a:solidFill>
              </a:rPr>
              <a:t>Granular venue categories mapped to: HOTEL, LANDMARK, RESTAURANT, RETAIL, TRANSPORT, OTHER.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Sequence Structure: </a:t>
            </a:r>
            <a:r>
              <a:rPr sz="1100">
                <a:solidFill>
                  <a:srgbClr val="323232"/>
                </a:solidFill>
              </a:rPr>
              <a:t>Represented as ordered sequences: [(cat_1, zone_1), (cat_2, zone_2), ..., (cat_k, zone_k)].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Trajectory Pruning: </a:t>
            </a:r>
            <a:r>
              <a:rPr sz="1100">
                <a:solidFill>
                  <a:srgbClr val="323232"/>
                </a:solidFill>
              </a:rPr>
              <a:t>Filtered to keep cascades with length &gt;= 2 hops across distinct zones.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Resulting Corpus: </a:t>
            </a:r>
            <a:r>
              <a:rPr sz="1100">
                <a:solidFill>
                  <a:srgbClr val="323232"/>
                </a:solidFill>
              </a:rPr>
              <a:t>Extracted multi-stop tourist mobility cascades across NYC.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3. Mathematical Formulation: Pattern Mining &amp; Sequential Centrality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Constrained Sequential Pattern Mining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Transaction Definition: </a:t>
            </a:r>
            <a:r>
              <a:rPr sz="1100">
                <a:solidFill>
                  <a:srgbClr val="323232"/>
                </a:solidFill>
              </a:rPr>
              <a:t>Mined directed transitions e = (u -&gt; v) where u = (cat_1, zone_1) and v = (cat_2, zone_2).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Support Formulation: </a:t>
            </a:r>
            <a:r>
              <a:rPr sz="1100">
                <a:solidFill>
                  <a:srgbClr val="323232"/>
                </a:solidFill>
              </a:rPr>
              <a:t>Support(u -&gt; v) = |Sessions containing u -&gt; v| / |Total Sessions|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Confidence Formulation: </a:t>
            </a:r>
            <a:r>
              <a:rPr sz="1100">
                <a:solidFill>
                  <a:srgbClr val="323232"/>
                </a:solidFill>
              </a:rPr>
              <a:t>Confidence(u -&gt; v) = |Sessions containing u -&gt; v| / |Sessions containing u|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Semantic Constraints: </a:t>
            </a:r>
            <a:r>
              <a:rPr sz="1100">
                <a:solidFill>
                  <a:srgbClr val="323232"/>
                </a:solidFill>
              </a:rPr>
              <a:t>Pruned background noise categories (OTHER) and self-loops (zone_1 == zone_2) to focus strictly on spatial transfers.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Mining Thresholds: </a:t>
            </a:r>
            <a:r>
              <a:rPr sz="1100">
                <a:solidFill>
                  <a:srgbClr val="323232"/>
                </a:solidFill>
              </a:rPr>
              <a:t>Thresholds set to Absolute Support Count &gt;= 2 sessions and Confidence &gt;= 5% to capture fine-grained luxury trajectory paths.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Directed Graph &amp; Sequential Centrality (SC)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7548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Graph Topology: </a:t>
            </a:r>
            <a:r>
              <a:rPr sz="1100">
                <a:solidFill>
                  <a:srgbClr val="323232"/>
                </a:solidFill>
              </a:rPr>
              <a:t>Constructed directed multigraph G = (V, E), where V is the set of H3 zones, and directed edges E represent sequential transitions.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Edge Weight Function: </a:t>
            </a:r>
            <a:r>
              <a:rPr sz="1100">
                <a:solidFill>
                  <a:srgbClr val="323232"/>
                </a:solidFill>
              </a:rPr>
              <a:t>Weight W(u, v) = Support(u -&gt; v) * Confidence(u -&gt; v), embedding both frequency and transition reliability.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Inflow Influx Metric: </a:t>
            </a:r>
            <a:r>
              <a:rPr sz="1100">
                <a:solidFill>
                  <a:srgbClr val="323232"/>
                </a:solidFill>
              </a:rPr>
              <a:t>Weighted Downstream Inflow: I(v) = Sum_{u in In(v)} W(u, v). Quantifies accumulated trajectory capture.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Global Authority: </a:t>
            </a:r>
            <a:r>
              <a:rPr sz="1100">
                <a:solidFill>
                  <a:srgbClr val="323232"/>
                </a:solidFill>
              </a:rPr>
              <a:t>Global Network PageRank: P(v) computed over transition probability matrix to evaluate overall topological authority.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Sequential Centrality Formulation: </a:t>
            </a:r>
            <a:r>
              <a:rPr sz="1100">
                <a:solidFill>
                  <a:srgbClr val="323232"/>
                </a:solidFill>
              </a:rPr>
              <a:t>SC(v) = 0.7 * I_norm(v) + 0.3 * P_norm(v). Balances immediate downstream capture with systemic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4. Empirical Results: Top Predicted Luxury Flagship Zones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48640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Candidate Ranking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502920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Pipeline Execution: </a:t>
            </a:r>
            <a:r>
              <a:rPr sz="1100">
                <a:solidFill>
                  <a:srgbClr val="323232"/>
                </a:solidFill>
              </a:rPr>
              <a:t>The complete pipeline was executed across 227K+ records, indexing check-ins into H3 resolution 8 cells.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Geographic Alignment: </a:t>
            </a:r>
            <a:r>
              <a:rPr sz="1100">
                <a:solidFill>
                  <a:srgbClr val="323232"/>
                </a:solidFill>
              </a:rPr>
              <a:t>Top candidate zones cluster around Midtown Manhattan, SoHo, and the Meatpacking District, reflecting true luxury retail patterns.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Downstream Convergence: </a:t>
            </a:r>
            <a:r>
              <a:rPr sz="1100">
                <a:solidFill>
                  <a:srgbClr val="323232"/>
                </a:solidFill>
              </a:rPr>
              <a:t>The highest SC scores are driven by concentrated multi-hop inflows from cultural landmarks and hotel zones.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Decoupling Confirmed: </a:t>
            </a:r>
            <a:r>
              <a:rPr sz="1100">
                <a:solidFill>
                  <a:srgbClr val="323232"/>
                </a:solidFill>
              </a:rPr>
              <a:t>Zones with modest raw footfall appear among top ranks due to high transition confidence (W(u, v)).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Reproducible Asset: </a:t>
            </a:r>
            <a:r>
              <a:rPr sz="1100">
                <a:solidFill>
                  <a:srgbClr val="323232"/>
                </a:solidFill>
              </a:rPr>
              <a:t>Results exported automatically to 'results/final_zone_ranking.csv'.</a:t>
            </a:r>
          </a:p>
        </p:txBody>
      </p:sp>
      <p:pic>
        <p:nvPicPr>
          <p:cNvPr id="6" name="Picture 5" descr="review_top_zones_bar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554480"/>
            <a:ext cx="4937760" cy="29626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5. Novelty Demonstration: The 'Hidden Hotspot' Effect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Statistical &amp; Theoretical Proof of Novelty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Baseline Benchmark: </a:t>
            </a:r>
            <a:r>
              <a:rPr sz="1100">
                <a:solidFill>
                  <a:srgbClr val="323232"/>
                </a:solidFill>
              </a:rPr>
              <a:t>Compared Sequential Centrality directly against the primary baseline: Raw Static Footfall (Visits).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Empirical Decoupling: </a:t>
            </a:r>
            <a:r>
              <a:rPr sz="1100">
                <a:solidFill>
                  <a:srgbClr val="323232"/>
                </a:solidFill>
              </a:rPr>
              <a:t>The scatter plot reveals weak correlation between raw visit count and Sequential Centrality.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Hidden Hotspot Definition: </a:t>
            </a:r>
            <a:r>
              <a:rPr sz="1100">
                <a:solidFill>
                  <a:srgbClr val="323232"/>
                </a:solidFill>
              </a:rPr>
              <a:t>Defined as zones ranking in the 75th percentile of SC while falling into the lower 50th percentile of raw footfall.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The Commercial Trap: </a:t>
            </a:r>
            <a:r>
              <a:rPr sz="1100">
                <a:solidFill>
                  <a:srgbClr val="323232"/>
                </a:solidFill>
              </a:rPr>
              <a:t>Static GIS tools overpay for high-traffic commuter areas (Penn Station, Times Square) where intent to browse luxury goods is minimal.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Strategic Advantage: </a:t>
            </a:r>
            <a:r>
              <a:rPr sz="1100">
                <a:solidFill>
                  <a:srgbClr val="323232"/>
                </a:solidFill>
              </a:rPr>
              <a:t>Hidden hotspots capture high-intent downstream arrivals without the premium overhead of crowded transit centers.</a:t>
            </a:r>
          </a:p>
        </p:txBody>
      </p:sp>
      <p:pic>
        <p:nvPicPr>
          <p:cNvPr id="6" name="Picture 5" descr="review_footfall_vs_centrality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554480"/>
            <a:ext cx="5303520" cy="3535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6. Model Interpretability &amp; Spatial Distribution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30352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937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Explainable AI (XAI) &amp; Interactive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84632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Algorithmic Transparency: </a:t>
            </a:r>
            <a:r>
              <a:rPr sz="1100">
                <a:solidFill>
                  <a:srgbClr val="323232"/>
                </a:solidFill>
              </a:rPr>
              <a:t>Unlike black-box neural networks (LSTM, GCNs), TourCascade provides an auditable behavioral justification for every recommended cell.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Concrete Antecedent Trace: </a:t>
            </a:r>
            <a:r>
              <a:rPr sz="1100">
                <a:solidFill>
                  <a:srgbClr val="323232"/>
                </a:solidFill>
              </a:rPr>
              <a:t>RESTAURANT (882a100d29fffff) -&gt; RESTAURANT (882a100d2dfffff)
   Support: 0.0006  |  Confidence: 0.0702 (7.02% of all visitors departing upstream Zone A transition directly into Zone B).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Geospatial Map Engine: </a:t>
            </a:r>
            <a:r>
              <a:rPr sz="1100">
                <a:solidFill>
                  <a:srgbClr val="323232"/>
                </a:solidFill>
              </a:rPr>
              <a:t>Generated Leaflet/Folium interactive map ('figures/tourcascade_interactive_review_map.html') rendering candidate H3 clusters.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Interactive Dashboard: </a:t>
            </a:r>
            <a:r>
              <a:rPr sz="1100">
                <a:solidFill>
                  <a:srgbClr val="323232"/>
                </a:solidFill>
              </a:rPr>
              <a:t>Color-coded inspection: Primary Corridors (Blue) vs. Discovered Hidden Hotspots (Red) with on-click metric inspection.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Enterprise Utility: </a:t>
            </a:r>
            <a:r>
              <a:rPr sz="1100">
                <a:solidFill>
                  <a:srgbClr val="323232"/>
                </a:solidFill>
              </a:rPr>
              <a:t>Provides retail executives with clear data: exactly which hotels, landmarks, and dining corridors funnel high-spending traffic into a prospective store.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554480"/>
            <a:ext cx="512064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Key Implementation Artifacts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210312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Verified Codebase: </a:t>
            </a:r>
            <a:r>
              <a:rPr sz="1100">
                <a:solidFill>
                  <a:srgbClr val="323232"/>
                </a:solidFill>
              </a:rPr>
              <a:t>github.com/TannyaP/TourCascade_SSDM-Project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Modular Design: </a:t>
            </a:r>
            <a:r>
              <a:rPr sz="1100">
                <a:solidFill>
                  <a:srgbClr val="323232"/>
                </a:solidFill>
              </a:rPr>
              <a:t>Modular Python architecture across 8 standalone modules under src/ (preprocessing, spatial, cascades, mining, centrality, baselines, visualization, validation).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Data Deliverable 1: </a:t>
            </a:r>
            <a:r>
              <a:rPr sz="1100">
                <a:solidFill>
                  <a:srgbClr val="323232"/>
                </a:solidFill>
              </a:rPr>
              <a:t>final_zone_ranking.csv (Full ranked candidate zones with metrics).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Data Deliverable 2: </a:t>
            </a:r>
            <a:r>
              <a:rPr sz="1100">
                <a:solidFill>
                  <a:srgbClr val="323232"/>
                </a:solidFill>
              </a:rPr>
              <a:t>hidden_hotspots.csv (Discovered high-conversion downstream zones).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Data Deliverable 3: </a:t>
            </a:r>
            <a:r>
              <a:rPr sz="1100">
                <a:solidFill>
                  <a:srgbClr val="323232"/>
                </a:solidFill>
              </a:rPr>
              <a:t>mined_sequential_patterns.csv (Extracted spatial transition rules).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Visualization Deliverable: </a:t>
            </a:r>
            <a:r>
              <a:rPr sz="1100">
                <a:solidFill>
                  <a:srgbClr val="323232"/>
                </a:solidFill>
              </a:rPr>
              <a:t>tourcascade_interactive_review_map.html (Interactive GIS web dashboard).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565A9"/>
                </a:solidFill>
              </a:defRPr>
            </a:pPr>
            <a:r>
              <a:t>CSE3068 - SEQUENTIAL AND SPATIAL DATA MINING</a:t>
            </a:r>
          </a:p>
          <a:p>
            <a:pPr>
              <a:spcBef>
                <a:spcPts val="400"/>
              </a:spcBef>
              <a:defRPr sz="2400" b="1">
                <a:solidFill>
                  <a:srgbClr val="102C57"/>
                </a:solidFill>
              </a:defRPr>
            </a:pPr>
            <a:r>
              <a:t>7. Milestone Verification &amp; Final Review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Review 2 Deliverables Completed (100%)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03120"/>
            <a:ext cx="466344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End-to-End Execution: </a:t>
            </a:r>
            <a:r>
              <a:rPr sz="1100">
                <a:solidFill>
                  <a:srgbClr val="323232"/>
                </a:solidFill>
              </a:rPr>
              <a:t>Complete Python data engineering pipeline handling 227K+ trajectories without data leakage.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Spatial Discretization: </a:t>
            </a:r>
            <a:r>
              <a:rPr sz="1100">
                <a:solidFill>
                  <a:srgbClr val="323232"/>
                </a:solidFill>
              </a:rPr>
              <a:t>Uber H3 resolution 8 spatial partitioning fully operational.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Trajectory Formulation: </a:t>
            </a:r>
            <a:r>
              <a:rPr sz="1100">
                <a:solidFill>
                  <a:srgbClr val="323232"/>
                </a:solidFill>
              </a:rPr>
              <a:t>Trajectory cascade segmentation with delta_t &lt;= 12h session thresholds.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Graph &amp; Sequence Mining: </a:t>
            </a:r>
            <a:r>
              <a:rPr sz="1100">
                <a:solidFill>
                  <a:srgbClr val="323232"/>
                </a:solidFill>
              </a:rPr>
              <a:t>Constrained sequential pattern miner and directed multigraph construction.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Novelty Metric: </a:t>
            </a:r>
            <a:r>
              <a:rPr sz="1100">
                <a:solidFill>
                  <a:srgbClr val="323232"/>
                </a:solidFill>
              </a:rPr>
              <a:t>Mathematical formulation of Sequential Centrality (SC) implemented and scored.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Novelty Validation: </a:t>
            </a:r>
            <a:r>
              <a:rPr sz="1100">
                <a:solidFill>
                  <a:srgbClr val="323232"/>
                </a:solidFill>
              </a:rPr>
              <a:t>Identification and quadrant validation of 'Hidden Hotspots'.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Visualization Engine: </a:t>
            </a:r>
            <a:r>
              <a:rPr sz="1100">
                <a:solidFill>
                  <a:srgbClr val="323232"/>
                </a:solidFill>
              </a:rPr>
              <a:t>Interactive Leaflet HTML map and automated visual asset export.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8F9FA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02C57"/>
                </a:solidFill>
              </a:defRPr>
            </a:pPr>
            <a:r>
              <a:t>Review 3: Final Submission Deliverables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754880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Temporal Holdout Backtesting: </a:t>
            </a:r>
            <a:r>
              <a:rPr sz="1100">
                <a:solidFill>
                  <a:srgbClr val="323232"/>
                </a:solidFill>
              </a:rPr>
              <a:t>Chronological train/test split (70% mining period, 30% prospective validation period) to evaluate future retail trajectory capture.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Multi-Baseline Benchmarking: </a:t>
            </a:r>
            <a:r>
              <a:rPr sz="1100">
                <a:solidFill>
                  <a:srgbClr val="323232"/>
                </a:solidFill>
              </a:rPr>
              <a:t>Formal comparison against PageRank alone, Degree Centrality, and Static Apriori Co-location rules.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Statistical Evaluation: </a:t>
            </a:r>
            <a:r>
              <a:rPr sz="1100">
                <a:solidFill>
                  <a:srgbClr val="323232"/>
                </a:solidFill>
              </a:rPr>
              <a:t>Kendall's Tau and NDCG metrics measuring ranking stability across temporal splits.</a:t>
            </a:r>
          </a:p>
          <a:p>
            <a:pPr>
              <a:spcAft>
                <a:spcPts val="600"/>
              </a:spcAft>
            </a:pPr>
            <a:r>
              <a:rPr b="1" sz="1100">
                <a:solidFill>
                  <a:srgbClr val="323232"/>
                </a:solidFill>
              </a:rPr>
              <a:t>5-Page IEEE Research Report: </a:t>
            </a:r>
            <a:r>
              <a:rPr sz="1100">
                <a:solidFill>
                  <a:srgbClr val="323232"/>
                </a:solidFill>
              </a:rPr>
              <a:t>Final 5-Page Research Paper formatted in standard IEEE two-column style including all empirical figures and references.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